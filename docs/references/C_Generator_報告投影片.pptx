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1" d="100"/>
          <a:sy n="101" d="100"/>
        </p:scale>
        <p:origin x="1544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17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開場可以說：這次不是再研究怎麼找資料，而是研究資料找對以後，模型怎麼回答才可靠。B 是把資料擋好，C 是產生答案，D 則是後面真正驗證每個 Claim。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這頁重點是：Baseline 不是完全自由回答，Grounded 是更嚴格的文本約束，Evidence-aware 的價值是讓答案可被程式和 D 模組繼續驗證。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這頁要說明三種控制層次。前兩種 Baseline 和 Grounded 主要是提示詞，屬於軟性約束；模型通常會遵守，但不能保證。Evidence-aware 開始使用 LangChain 的結構化輸出，要求模型固定回 decision、answer、supported_claims、evidence_ids 等欄位，所以不是只回一段文字，而是把答案變成可以被程式讀取的格式。但要講清楚：結構化輸出只能讓格式更可控，不能保證內容語意一定正確。例如 Evidence ID 可能存在，但不一定真的支持那句 Claim。因此真正硬性驗證是在 D，由程式或 Output Gate 檢查 Evidence ID 是否允許、Claim 是否真的被 Evidence 支持。可以用一句話收尾：Prompt 是要求模型遵守，Gate 是模型不遵守就擋掉。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這頁可以用故事講：X2是最容易懂的數字陷阱；P4代表部分資訊可答；I1則檢查 v2 是否因為變得比較會回答而失去安全邊界。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這頁要說清楚：v2 不是單純加一個標籤，而是輸出結構改了。Supported claims 和 unsupported requests 分開，後面 D 才能知道哪些要驗、哪些是資料不足。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口頭示範這頁就好，不需要逐字讀 JSON。把它拆成三部分：決策是 PARTIAL、supported claims 保留 12 個案例、unsupported requests 說缺總使用人數。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這頁要把 93.3% 講準：是 decision 與人工案例規格一致率，不是完整答案人工 accuracy。然後說 v2 在 numeric trap 和 partial cases 改善最明顯，同時四類安全案例沒掉。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結尾重點：Evidence-aware v2 的價值是讓 C 產生可驗證答案，而不是單純分數比較。要誠實講限制，這樣老師追問時比較站得住。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C 模組報告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58521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0F172A"/>
                </a:solidFill>
              </a:rPr>
              <a:t>有根據、可追蹤證據的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0F172A"/>
                </a:solidFill>
              </a:rPr>
              <a:t>回答產生器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54864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已經挑出可用 Evidence，LLM 產生答案時是否仍會補出文件沒有的內容？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0" y="1051560"/>
            <a:ext cx="44805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B：Context Gate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挑出可用 Evidence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41080" y="1828800"/>
            <a:ext cx="0" cy="41148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0" y="2286000"/>
            <a:ext cx="448056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C：Generator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根據 Evidence 產生候選答案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41080" y="3063240"/>
            <a:ext cx="0" cy="41148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400800" y="3520440"/>
            <a:ext cx="448056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D：Output Gate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Claim 是否真的有證據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4663440"/>
            <a:ext cx="4480560" cy="914400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C 的目標：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</a:rPr>
              <a:t>有證據才講；重要主張要追得到來源。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464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 Generator：差別不是只有 Prompt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108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Baseline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基本受限回答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297180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只能根據 TFDA 文件回答；資料不足要說清楚。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輸出：一般文字答案。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26280" y="1325880"/>
            <a:ext cx="310896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Grounded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有根據的回答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194560"/>
            <a:ext cx="297180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 err="1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更明確要求每個細節都要有文件支持發生率、劑量、頻率沒寫就不能補</a:t>
            </a: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輸出：一般文字答案。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0" y="1325880"/>
            <a:ext cx="3108960" cy="6858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Evidence-aware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證據感知式回答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2194560"/>
            <a:ext cx="297180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除了回答，還要列出每個重要主張，並附 Evidence ID。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輸出：結構化 JSON。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Evidence-aware 輸出概念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53949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"claim": "SGLT2 抑制劑可能和酮酸中毒有關",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"evidence_ids": ["tfda-risk-0019"]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4389120"/>
            <a:ext cx="4663440" cy="1325880"/>
          </a:xfrm>
          <a:prstGeom prst="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為什麼重要？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後面的 D 可以拿 Claim + Evidence ID 做逐主張驗證。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75720" y="6464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515600" cy="38404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JhengHei"/>
              </a:defRPr>
            </a:pPr>
            <a:r>
              <a:t>軟性約束、結構約束與硬性驗證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33272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JhengHei"/>
              </a:defRPr>
            </a:pPr>
            <a:r>
              <a:t>Prompt 是「要求模型遵守」；Gate 是「模型不遵守就擋掉」。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105613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154680" cy="32461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490472"/>
            <a:ext cx="2825496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JhengHei"/>
              </a:defRPr>
            </a:pPr>
            <a:r>
              <a:t>① 軟性約束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01368"/>
            <a:ext cx="2825496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Microsoft JhengHei"/>
              </a:defRPr>
            </a:pPr>
            <a:r>
              <a:t>提示詞 Prompt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8" y="2167128"/>
            <a:ext cx="2386584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313432"/>
            <a:ext cx="2752344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JhengHei"/>
              </a:defRPr>
            </a:pPr>
            <a:r>
              <a:t>用提示詞要求模型：</a:t>
            </a:r>
            <a:br/>
            <a:r>
              <a:t>• 文件沒寫不要補</a:t>
            </a:r>
            <a:br/>
            <a:r>
              <a:t>• 資料不足要說明</a:t>
            </a:r>
            <a:br/>
            <a:br/>
            <a:r>
              <a:t>限制：模型仍可能不照做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1325880"/>
            <a:ext cx="3154680" cy="3246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1490472"/>
            <a:ext cx="2825496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JhengHei"/>
              </a:defRPr>
            </a:pPr>
            <a:r>
              <a:t>② 結構約束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801368"/>
            <a:ext cx="2825496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Microsoft JhengHei"/>
              </a:defRPr>
            </a:pPr>
            <a:r>
              <a:t>LangChain 結構化輸出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2167128"/>
            <a:ext cx="2386584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42816" y="2313432"/>
            <a:ext cx="2752344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JhengHei"/>
              </a:defRPr>
            </a:pPr>
            <a:r>
              <a:t>用固定欄位限制輸出：</a:t>
            </a:r>
            <a:br/>
            <a:r>
              <a:t>• decision</a:t>
            </a:r>
            <a:br/>
            <a:r>
              <a:t>• answer</a:t>
            </a:r>
            <a:br/>
            <a:r>
              <a:t>• supported_claims</a:t>
            </a:r>
            <a:br/>
            <a:r>
              <a:t>• evidence_ids</a:t>
            </a:r>
            <a:br/>
            <a:br/>
            <a:r>
              <a:t>效果：格式更可控，但內容仍要驗證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88936" y="1325880"/>
            <a:ext cx="3154680" cy="32461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53528" y="1490472"/>
            <a:ext cx="2825496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JhengHei"/>
              </a:defRPr>
            </a:pPr>
            <a:r>
              <a:t>③ 硬性驗證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8" y="1801368"/>
            <a:ext cx="2825496" cy="2560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Microsoft JhengHei"/>
              </a:defRPr>
            </a:pPr>
            <a:r>
              <a:t>D：輸出閘門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72984" y="2167128"/>
            <a:ext cx="2386584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90104" y="2313432"/>
            <a:ext cx="2752344" cy="19659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Microsoft JhengHei"/>
              </a:defRPr>
            </a:pPr>
            <a:r>
              <a:t>用程式直接檢查：</a:t>
            </a:r>
            <a:br/>
            <a:r>
              <a:t>• Evidence ID 不在允許清單 → FAIL</a:t>
            </a:r>
            <a:br/>
            <a:r>
              <a:t>• Claim 是否被 Evidence 支持 → 交給 D 驗證</a:t>
            </a:r>
            <a:br/>
            <a:br/>
            <a:r>
              <a:t>效果：不只相信模型自己說法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67328" y="2807208"/>
            <a:ext cx="256032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7214616" y="2807208"/>
            <a:ext cx="256032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" y="4800600"/>
            <a:ext cx="9966960" cy="685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91440" rtlCol="0" anchor="ctr"/>
          <a:lstStyle/>
          <a:p>
            <a:pPr algn="ctr">
              <a:defRPr sz="1500" b="1">
                <a:solidFill>
                  <a:srgbClr val="0F172A"/>
                </a:solidFill>
                <a:latin typeface="Microsoft JhengHei"/>
              </a:defRPr>
            </a:pPr>
            <a:r>
              <a:t>C 的位置：把答案整理成「可驗證格式」；真正檢查 Claim 是否有證據，交給 D。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64808"/>
            <a:ext cx="274320" cy="1828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Jheng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256032"/>
            <a:ext cx="8961120" cy="457200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bIns="64008" rtlCol="0" anchor="ctr"/>
          <a:lstStyle/>
          <a:p>
            <a:pPr algn="l"/>
            <a:r>
              <a:rPr sz="2400" b="1">
                <a:solidFill>
                  <a:srgbClr val="122640"/>
                </a:solidFill>
                <a:latin typeface="Microsoft JhengHei"/>
              </a:rPr>
              <a:t>同一題的實際輸出節錄：三種方法差在哪？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777240"/>
            <a:ext cx="11155680" cy="56692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bIns="64008" rtlCol="0" anchor="ctr"/>
          <a:lstStyle/>
          <a:p>
            <a:pPr algn="l"/>
            <a:r>
              <a:rPr sz="1250" b="0">
                <a:solidFill>
                  <a:srgbClr val="0F172A"/>
                </a:solidFill>
                <a:latin typeface="Microsoft JhengHei"/>
              </a:rPr>
              <a:t>X2 數字陷阱｜問題：SGLT2 Fournier 氏壞疽的 12 個案例占所有使用者的百分比是多少？
文件只提供：「2013–2018 年間有 12 個案例」；沒有提供「總使用者人數」。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36192"/>
            <a:ext cx="361188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46304" bIns="73152" rtlCol="0" anchor="ctr"/>
          <a:lstStyle/>
          <a:p>
            <a:pPr algn="ctr">
              <a:spcAft>
                <a:spcPts val="600"/>
              </a:spcAft>
            </a:pPr>
            <a:r>
              <a:rPr sz="1500" b="1" dirty="0">
                <a:solidFill>
                  <a:srgbClr val="2563EB"/>
                </a:solidFill>
                <a:latin typeface="Microsoft JhengHei"/>
              </a:rPr>
              <a:t>① </a:t>
            </a:r>
            <a:r>
              <a:rPr sz="1500" b="1" dirty="0" err="1">
                <a:solidFill>
                  <a:srgbClr val="2563EB"/>
                </a:solidFill>
                <a:latin typeface="Microsoft JhengHei"/>
              </a:rPr>
              <a:t>Baseline｜基本受限回答</a:t>
            </a:r>
            <a:br>
              <a:rPr lang="en-US" sz="1500" b="1" dirty="0">
                <a:solidFill>
                  <a:srgbClr val="2563EB"/>
                </a:solidFill>
                <a:latin typeface="Microsoft JhengHei"/>
              </a:rPr>
            </a:br>
            <a:br>
              <a:rPr lang="en-US" sz="1500" b="1" dirty="0">
                <a:solidFill>
                  <a:srgbClr val="2563EB"/>
                </a:solidFill>
                <a:latin typeface="Microsoft JhengHei"/>
              </a:rPr>
            </a:br>
            <a:endParaRPr sz="1500" b="1" dirty="0">
              <a:solidFill>
                <a:srgbClr val="2563EB"/>
              </a:solidFill>
              <a:latin typeface="Microsoft JhengHei"/>
            </a:endParaRPr>
          </a:p>
          <a:p>
            <a:pPr>
              <a:spcAft>
                <a:spcPts val="300"/>
              </a:spcAft>
            </a:pPr>
            <a:r>
              <a:rPr sz="1050" dirty="0" err="1">
                <a:solidFill>
                  <a:srgbClr val="0F172A"/>
                </a:solidFill>
                <a:latin typeface="Microsoft JhengHei"/>
              </a:rPr>
              <a:t>原始輸出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：</a:t>
            </a:r>
          </a:p>
          <a:p>
            <a:pPr>
              <a:spcAft>
                <a:spcPts val="300"/>
              </a:spcAft>
            </a:pPr>
            <a:r>
              <a:rPr sz="1050" dirty="0">
                <a:solidFill>
                  <a:srgbClr val="0F172A"/>
                </a:solidFill>
                <a:latin typeface="Microsoft JhengHei"/>
              </a:rPr>
              <a:t>「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提供的文件不足以回答這一部分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。」</a:t>
            </a:r>
          </a:p>
          <a:p>
            <a:pPr>
              <a:spcAft>
                <a:spcPts val="300"/>
              </a:spcAft>
            </a:pPr>
            <a:endParaRPr sz="1050" dirty="0">
              <a:solidFill>
                <a:srgbClr val="0F172A"/>
              </a:solidFill>
              <a:latin typeface="Microsoft JhengHei"/>
            </a:endParaRPr>
          </a:p>
          <a:p>
            <a:pPr>
              <a:spcAft>
                <a:spcPts val="300"/>
              </a:spcAft>
            </a:pPr>
            <a:r>
              <a:rPr sz="1050" dirty="0">
                <a:solidFill>
                  <a:srgbClr val="0F172A"/>
                </a:solidFill>
                <a:latin typeface="Microsoft JhengHei"/>
              </a:rPr>
              <a:t>問題：有拒絕亂算，但也把「12 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個案例」這個已知資訊一起省掉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。</a:t>
            </a:r>
          </a:p>
          <a:p>
            <a:pPr>
              <a:spcAft>
                <a:spcPts val="300"/>
              </a:spcAft>
            </a:pPr>
            <a:r>
              <a:rPr sz="1050" dirty="0" err="1">
                <a:solidFill>
                  <a:srgbClr val="0F172A"/>
                </a:solidFill>
                <a:latin typeface="Microsoft JhengHei"/>
              </a:rPr>
              <a:t>輸出型態：一般文字，沒有主張與證據欄位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。</a:t>
            </a:r>
          </a:p>
          <a:p>
            <a:pPr>
              <a:spcBef>
                <a:spcPts val="500"/>
              </a:spcBef>
            </a:pPr>
            <a:r>
              <a:rPr sz="850" dirty="0">
                <a:solidFill>
                  <a:srgbClr val="64748B"/>
                </a:solidFill>
                <a:latin typeface="Microsoft JhengHei"/>
              </a:rPr>
              <a:t>X2 / baseline / </a:t>
            </a:r>
            <a:r>
              <a:rPr sz="850" dirty="0" err="1">
                <a:solidFill>
                  <a:srgbClr val="64748B"/>
                </a:solidFill>
                <a:latin typeface="Microsoft JhengHei"/>
              </a:rPr>
              <a:t>原始輸出節錄</a:t>
            </a:r>
            <a:endParaRPr sz="850" dirty="0">
              <a:solidFill>
                <a:srgbClr val="64748B"/>
              </a:solidFill>
              <a:latin typeface="Microsoft Jheng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87952" y="1536192"/>
            <a:ext cx="361188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46304" bIns="73152" rtlCol="0" anchor="ctr"/>
          <a:lstStyle/>
          <a:p>
            <a:pPr algn="ctr">
              <a:spcAft>
                <a:spcPts val="600"/>
              </a:spcAft>
            </a:pPr>
            <a:r>
              <a:rPr sz="1500" b="1" dirty="0">
                <a:solidFill>
                  <a:srgbClr val="F59E0B"/>
                </a:solidFill>
                <a:latin typeface="Microsoft JhengHei"/>
              </a:rPr>
              <a:t>② </a:t>
            </a:r>
            <a:r>
              <a:rPr sz="1500" b="1" dirty="0" err="1">
                <a:solidFill>
                  <a:srgbClr val="F59E0B"/>
                </a:solidFill>
                <a:latin typeface="Microsoft JhengHei"/>
              </a:rPr>
              <a:t>Grounded｜有根據回答</a:t>
            </a:r>
            <a:br>
              <a:rPr lang="en-US" sz="1500" b="1" dirty="0">
                <a:solidFill>
                  <a:srgbClr val="F59E0B"/>
                </a:solidFill>
                <a:latin typeface="Microsoft JhengHei"/>
              </a:rPr>
            </a:br>
            <a:endParaRPr sz="1500" b="1" dirty="0">
              <a:solidFill>
                <a:srgbClr val="F59E0B"/>
              </a:solidFill>
              <a:latin typeface="Microsoft JhengHei"/>
            </a:endParaRPr>
          </a:p>
          <a:p>
            <a:pPr>
              <a:spcAft>
                <a:spcPts val="300"/>
              </a:spcAft>
            </a:pPr>
            <a:r>
              <a:rPr sz="1050" dirty="0" err="1">
                <a:solidFill>
                  <a:srgbClr val="0F172A"/>
                </a:solidFill>
                <a:latin typeface="Microsoft JhengHei"/>
              </a:rPr>
              <a:t>原始輸出節錄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：</a:t>
            </a:r>
          </a:p>
          <a:p>
            <a:pPr>
              <a:spcAft>
                <a:spcPts val="300"/>
              </a:spcAft>
            </a:pPr>
            <a:r>
              <a:rPr sz="1050" dirty="0">
                <a:solidFill>
                  <a:srgbClr val="0F172A"/>
                </a:solidFill>
                <a:latin typeface="Microsoft JhengHei"/>
              </a:rPr>
              <a:t>「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文件僅指出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 2013 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年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 3 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月至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 2018 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年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 5 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月期間，有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 12 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例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……」</a:t>
            </a:r>
          </a:p>
          <a:p>
            <a:pPr>
              <a:spcAft>
                <a:spcPts val="300"/>
              </a:spcAft>
            </a:pPr>
            <a:r>
              <a:rPr sz="1050" dirty="0">
                <a:solidFill>
                  <a:srgbClr val="0F172A"/>
                </a:solidFill>
                <a:latin typeface="Microsoft JhengHei"/>
              </a:rPr>
              <a:t>「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未提供同期間使用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 SGLT2 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抑制劑的總人數，因此無法計算百分比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。」</a:t>
            </a:r>
          </a:p>
          <a:p>
            <a:pPr>
              <a:spcAft>
                <a:spcPts val="300"/>
              </a:spcAft>
            </a:pPr>
            <a:endParaRPr sz="1050" dirty="0">
              <a:solidFill>
                <a:srgbClr val="0F172A"/>
              </a:solidFill>
              <a:latin typeface="Microsoft JhengHei"/>
            </a:endParaRPr>
          </a:p>
          <a:p>
            <a:pPr>
              <a:spcAft>
                <a:spcPts val="300"/>
              </a:spcAft>
            </a:pPr>
            <a:r>
              <a:rPr sz="1050" dirty="0" err="1">
                <a:solidFill>
                  <a:srgbClr val="0F172A"/>
                </a:solidFill>
                <a:latin typeface="Microsoft JhengHei"/>
              </a:rPr>
              <a:t>優點：文字答案已經很合理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。</a:t>
            </a:r>
          </a:p>
          <a:p>
            <a:pPr>
              <a:spcAft>
                <a:spcPts val="300"/>
              </a:spcAft>
            </a:pPr>
            <a:r>
              <a:rPr sz="1050" dirty="0" err="1">
                <a:solidFill>
                  <a:srgbClr val="0F172A"/>
                </a:solidFill>
                <a:latin typeface="Microsoft JhengHei"/>
              </a:rPr>
              <a:t>限制：仍是一般文字，後續程式不容易直接檢查每句依據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。</a:t>
            </a:r>
          </a:p>
          <a:p>
            <a:pPr>
              <a:spcBef>
                <a:spcPts val="500"/>
              </a:spcBef>
            </a:pPr>
            <a:r>
              <a:rPr sz="850" dirty="0">
                <a:solidFill>
                  <a:srgbClr val="64748B"/>
                </a:solidFill>
                <a:latin typeface="Microsoft JhengHei"/>
              </a:rPr>
              <a:t>X2 / grounded / </a:t>
            </a:r>
            <a:r>
              <a:rPr sz="850" dirty="0" err="1">
                <a:solidFill>
                  <a:srgbClr val="64748B"/>
                </a:solidFill>
                <a:latin typeface="Microsoft JhengHei"/>
              </a:rPr>
              <a:t>原始輸出節錄</a:t>
            </a:r>
            <a:endParaRPr sz="850" dirty="0">
              <a:solidFill>
                <a:srgbClr val="64748B"/>
              </a:solidFill>
              <a:latin typeface="Microsoft Jheng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964424" y="1536192"/>
            <a:ext cx="361188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46304" bIns="73152" rtlCol="0" anchor="ctr"/>
          <a:lstStyle/>
          <a:p>
            <a:pPr algn="ctr">
              <a:spcAft>
                <a:spcPts val="600"/>
              </a:spcAft>
            </a:pPr>
            <a:r>
              <a:rPr sz="1500" b="1" dirty="0">
                <a:solidFill>
                  <a:srgbClr val="16A34A"/>
                </a:solidFill>
                <a:latin typeface="Microsoft JhengHei"/>
              </a:rPr>
              <a:t>③ Evidence-aware v2結構化輸出</a:t>
            </a:r>
            <a:br>
              <a:rPr lang="en-US" sz="1500" b="1" dirty="0">
                <a:solidFill>
                  <a:srgbClr val="16A34A"/>
                </a:solidFill>
                <a:latin typeface="Microsoft JhengHei"/>
              </a:rPr>
            </a:br>
            <a:endParaRPr sz="1500" b="1" dirty="0">
              <a:solidFill>
                <a:srgbClr val="16A34A"/>
              </a:solidFill>
              <a:latin typeface="Microsoft JhengHei"/>
            </a:endParaRPr>
          </a:p>
          <a:p>
            <a:pPr>
              <a:spcAft>
                <a:spcPts val="300"/>
              </a:spcAft>
            </a:pPr>
            <a:r>
              <a:rPr sz="1050" dirty="0" err="1">
                <a:solidFill>
                  <a:srgbClr val="0F172A"/>
                </a:solidFill>
                <a:latin typeface="Microsoft JhengHei"/>
              </a:rPr>
              <a:t>原始輸出節錄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：</a:t>
            </a:r>
          </a:p>
          <a:p>
            <a:pPr>
              <a:spcAft>
                <a:spcPts val="300"/>
              </a:spcAft>
            </a:pPr>
            <a:r>
              <a:rPr sz="1050" dirty="0" err="1">
                <a:solidFill>
                  <a:srgbClr val="0F172A"/>
                </a:solidFill>
                <a:latin typeface="Microsoft JhengHei"/>
              </a:rPr>
              <a:t>decision：PARTIAL</a:t>
            </a:r>
            <a:endParaRPr sz="1050" dirty="0">
              <a:solidFill>
                <a:srgbClr val="0F172A"/>
              </a:solidFill>
              <a:latin typeface="Microsoft JhengHei"/>
            </a:endParaRPr>
          </a:p>
          <a:p>
            <a:pPr>
              <a:spcAft>
                <a:spcPts val="300"/>
              </a:spcAft>
            </a:pPr>
            <a:r>
              <a:rPr sz="1050" dirty="0">
                <a:solidFill>
                  <a:srgbClr val="0F172A"/>
                </a:solidFill>
                <a:latin typeface="Microsoft JhengHei"/>
              </a:rPr>
              <a:t>answer：「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有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 12 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例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……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但未提供總使用人數，因此無法計算百分比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。」</a:t>
            </a:r>
          </a:p>
          <a:p>
            <a:pPr>
              <a:spcAft>
                <a:spcPts val="300"/>
              </a:spcAft>
            </a:pPr>
            <a:r>
              <a:rPr sz="1050" dirty="0">
                <a:solidFill>
                  <a:srgbClr val="0F172A"/>
                </a:solidFill>
                <a:latin typeface="Microsoft JhengHei"/>
              </a:rPr>
              <a:t>supported_claims：12 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例案例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 → tfda-risk-0064</a:t>
            </a:r>
          </a:p>
          <a:p>
            <a:pPr>
              <a:spcAft>
                <a:spcPts val="300"/>
              </a:spcAft>
            </a:pPr>
            <a:r>
              <a:rPr sz="1050" dirty="0" err="1">
                <a:solidFill>
                  <a:srgbClr val="0F172A"/>
                </a:solidFill>
                <a:latin typeface="Microsoft JhengHei"/>
              </a:rPr>
              <a:t>unsupported_requests：計算百分比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 → </a:t>
            </a:r>
            <a:r>
              <a:rPr sz="1050" dirty="0" err="1">
                <a:solidFill>
                  <a:srgbClr val="0F172A"/>
                </a:solidFill>
                <a:latin typeface="Microsoft JhengHei"/>
              </a:rPr>
              <a:t>缺少總使用者人數</a:t>
            </a:r>
            <a:endParaRPr sz="1050" dirty="0">
              <a:solidFill>
                <a:srgbClr val="0F172A"/>
              </a:solidFill>
              <a:latin typeface="Microsoft JhengHei"/>
            </a:endParaRPr>
          </a:p>
          <a:p>
            <a:pPr>
              <a:spcAft>
                <a:spcPts val="300"/>
              </a:spcAft>
            </a:pPr>
            <a:endParaRPr sz="1050" dirty="0">
              <a:solidFill>
                <a:srgbClr val="0F172A"/>
              </a:solidFill>
              <a:latin typeface="Microsoft JhengHei"/>
            </a:endParaRPr>
          </a:p>
          <a:p>
            <a:pPr>
              <a:spcAft>
                <a:spcPts val="300"/>
              </a:spcAft>
            </a:pPr>
            <a:r>
              <a:rPr sz="1050" dirty="0" err="1">
                <a:solidFill>
                  <a:srgbClr val="0F172A"/>
                </a:solidFill>
                <a:latin typeface="Microsoft JhengHei"/>
              </a:rPr>
              <a:t>價值：把「已知」和「未知」拆成可檢查欄位</a:t>
            </a:r>
            <a:r>
              <a:rPr sz="1050" dirty="0">
                <a:solidFill>
                  <a:srgbClr val="0F172A"/>
                </a:solidFill>
                <a:latin typeface="Microsoft JhengHei"/>
              </a:rPr>
              <a:t>。</a:t>
            </a:r>
          </a:p>
          <a:p>
            <a:pPr>
              <a:spcBef>
                <a:spcPts val="500"/>
              </a:spcBef>
            </a:pPr>
            <a:r>
              <a:rPr sz="850" dirty="0">
                <a:solidFill>
                  <a:srgbClr val="64748B"/>
                </a:solidFill>
                <a:latin typeface="Microsoft JhengHei"/>
              </a:rPr>
              <a:t>X2 / evidence_aware_v2 / </a:t>
            </a:r>
            <a:r>
              <a:rPr sz="850" dirty="0" err="1">
                <a:solidFill>
                  <a:srgbClr val="64748B"/>
                </a:solidFill>
                <a:latin typeface="Microsoft JhengHei"/>
              </a:rPr>
              <a:t>原始</a:t>
            </a:r>
            <a:r>
              <a:rPr sz="850" dirty="0">
                <a:solidFill>
                  <a:srgbClr val="64748B"/>
                </a:solidFill>
                <a:latin typeface="Microsoft JhengHei"/>
              </a:rPr>
              <a:t> JSON </a:t>
            </a:r>
            <a:r>
              <a:rPr sz="850" dirty="0" err="1">
                <a:solidFill>
                  <a:srgbClr val="64748B"/>
                </a:solidFill>
                <a:latin typeface="Microsoft JhengHei"/>
              </a:rPr>
              <a:t>節錄</a:t>
            </a:r>
            <a:endParaRPr sz="850" dirty="0">
              <a:solidFill>
                <a:srgbClr val="64748B"/>
              </a:solidFill>
              <a:latin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6016752"/>
            <a:ext cx="11064240" cy="438912"/>
          </a:xfrm>
          <a:prstGeom prst="roundRect">
            <a:avLst/>
          </a:prstGeom>
          <a:solidFill>
            <a:srgbClr val="122640"/>
          </a:solidFill>
          <a:ln w="15240">
            <a:solidFill>
              <a:srgbClr val="12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bIns="64008" rtlCol="0" anchor="ctr"/>
          <a:lstStyle/>
          <a:p>
            <a:pPr algn="l"/>
            <a:r>
              <a:rPr sz="1250" b="1" dirty="0" err="1">
                <a:solidFill>
                  <a:srgbClr val="FFFFFF"/>
                </a:solidFill>
                <a:latin typeface="Microsoft JhengHei"/>
              </a:rPr>
              <a:t>重點：Baseline</a:t>
            </a:r>
            <a:r>
              <a:rPr sz="1250" b="1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Microsoft JhengHei"/>
              </a:rPr>
              <a:t>和</a:t>
            </a:r>
            <a:r>
              <a:rPr sz="1250" b="1" dirty="0">
                <a:solidFill>
                  <a:srgbClr val="FFFFFF"/>
                </a:solidFill>
                <a:latin typeface="Microsoft JhengHei"/>
              </a:rPr>
              <a:t> Grounded </a:t>
            </a:r>
            <a:r>
              <a:rPr sz="1250" b="1" dirty="0" err="1">
                <a:solidFill>
                  <a:srgbClr val="FFFFFF"/>
                </a:solidFill>
                <a:latin typeface="Microsoft JhengHei"/>
              </a:rPr>
              <a:t>都是文字回答；Evidence-aware</a:t>
            </a:r>
            <a:r>
              <a:rPr sz="1250" b="1" dirty="0">
                <a:solidFill>
                  <a:srgbClr val="FFFFFF"/>
                </a:solidFill>
                <a:latin typeface="Microsoft JhengHei"/>
              </a:rPr>
              <a:t> v2 </a:t>
            </a:r>
            <a:r>
              <a:rPr sz="1250" b="1" dirty="0" err="1">
                <a:solidFill>
                  <a:srgbClr val="FFFFFF"/>
                </a:solidFill>
                <a:latin typeface="Microsoft JhengHei"/>
              </a:rPr>
              <a:t>把答案拆成</a:t>
            </a:r>
            <a:r>
              <a:rPr sz="1250" b="1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Microsoft JhengHei"/>
              </a:rPr>
              <a:t>decision、supported_claims、unsupported_requests，後面</a:t>
            </a:r>
            <a:r>
              <a:rPr sz="1250" b="1" dirty="0">
                <a:solidFill>
                  <a:srgbClr val="FFFFFF"/>
                </a:solidFill>
                <a:latin typeface="Microsoft JhengHei"/>
              </a:rPr>
              <a:t> D </a:t>
            </a:r>
            <a:r>
              <a:rPr sz="1250" b="1" dirty="0" err="1">
                <a:solidFill>
                  <a:srgbClr val="FFFFFF"/>
                </a:solidFill>
                <a:latin typeface="Microsoft JhengHei"/>
              </a:rPr>
              <a:t>可以直接接續逐主張驗證</a:t>
            </a:r>
            <a:r>
              <a:rPr sz="1250" b="1" dirty="0">
                <a:solidFill>
                  <a:srgbClr val="FFFFFF"/>
                </a:solidFill>
                <a:latin typeface="Microsoft JhengHei"/>
              </a:rPr>
              <a:t>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84280" y="6446520"/>
            <a:ext cx="274320" cy="228600"/>
          </a:xfrm>
          <a:prstGeom prst="rect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bIns="64008" rtlCol="0" anchor="ctr"/>
          <a:lstStyle/>
          <a:p>
            <a:pPr algn="l"/>
            <a:r>
              <a:rPr sz="1000" b="0">
                <a:solidFill>
                  <a:srgbClr val="64748B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三個實際題目：讓模型容易犯錯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29184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數字陷阱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29184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問：12 個案例占所有使用者幾％？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2918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文件有：12 個案例</a:t>
            </a:r>
            <a:endParaRPr lang="en-US" sz="122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文件沒有：總使用者人數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理想：說明有 12 個案例；不能計算百分比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4480560" y="1325880"/>
            <a:ext cx="329184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部分可回答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1965960"/>
            <a:ext cx="329184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問：Codeine 12–18 歲安全劑量是多少 mg/kg？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2651760"/>
            <a:ext cx="32918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文件有：年齡限制、減量規則</a:t>
            </a:r>
            <a:endParaRPr lang="en-US" sz="122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文件沒有：精確 mg/kg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480560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理想：回答已有規則；不亂生 mg/kg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8321040" y="1325880"/>
            <a:ext cx="329184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應該拒答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1965960"/>
            <a:ext cx="329184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問：SGLT2 酮酸中毒安全說明？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21040" y="2651760"/>
            <a:ext cx="342900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Context 只有：截肢、急性腎損傷、傅尼葉氏壞疽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321040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理想：INSUFFICIENT，不拿其他風險硬湊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280160" y="5486400"/>
            <a:ext cx="9509760" cy="594360"/>
          </a:xfrm>
          <a:prstGeom prst="rect">
            <a:avLst/>
          </a:prstGeom>
          <a:solidFill>
            <a:srgbClr val="F0FDFA"/>
          </a:solidFill>
          <a:ln w="1524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這三題分別測：不能亂算、知道多少答多少、真的沒證據就拒答。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75720" y="6464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 失敗點：輸出欄位太粗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不是模型一直亂講，而是只有「回答 / 不回答」兩個出口。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v1 欄位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493776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"decision": "ANSWER | INSUFFICIENT",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"answer": "...",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"claims": [],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"limitations": []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46520" y="1325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v2 欄位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1691640"/>
            <a:ext cx="507492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"decision": "ANSWER | PARTIAL | INSUFFICIENT",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"answer": "...",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"supported_claims": [],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"unsupported_requests": [],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"limitations": []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715000" y="2377440"/>
            <a:ext cx="548640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383280" y="3886200"/>
            <a:ext cx="5440680" cy="868680"/>
          </a:xfrm>
          <a:prstGeom prst="rect">
            <a:avLst/>
          </a:prstGeom>
          <a:solidFill>
            <a:srgbClr val="F5F3FF"/>
          </a:solidFill>
          <a:ln w="1524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核心改法：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把「有證據的內容」和「沒證據的要求」拆開存。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5074920"/>
            <a:ext cx="434340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v1：知道一部分，但容易整題 INSUFFICIENT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812280" y="5074920"/>
            <a:ext cx="43434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v2：PARTIAL = 有證據的先答，沒證據的說缺什麼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1475720" y="6464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 實際回答：部分回答，而不是整題拒答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用 X2 數字陷阱展示最直觀的改善。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109728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Query：SGLT2 Fournier 氏壞疽的 12 個案例占所有使用者幾％？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743200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decision：PARTIAL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66344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Answer：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文件記載 2013–2018 年間有 12 個案例；但沒有提供總使用者人數，因此無法計算百分比。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874520"/>
            <a:ext cx="214884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supported_claims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2514600"/>
            <a:ext cx="47548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已知：2013–2018 年間有 12 個案例</a:t>
            </a:r>
            <a:endParaRPr lang="en-US" sz="132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Evidence ID：tfda-risk-xxxx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217920" y="3749040"/>
            <a:ext cx="256032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unsupported_requests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63640" y="4389120"/>
            <a:ext cx="47548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不能回答：12 個案例占所有使用者多少％</a:t>
            </a:r>
            <a:endParaRPr lang="en-US" sz="132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2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原因：文件沒有總使用者人數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051560" y="5166360"/>
            <a:ext cx="4846320" cy="685800"/>
          </a:xfrm>
          <a:prstGeom prst="rect">
            <a:avLst/>
          </a:prstGeom>
          <a:solidFill>
            <a:srgbClr val="F0FDFA"/>
          </a:solidFill>
          <a:ln w="15240">
            <a:solidFill>
              <a:srgbClr val="0F766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這就是 C v2 的價值：知道的照講，不知道的不要猜。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75720" y="6464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實驗結果：v2 改善部分回答，安全類別未退步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同一批 30 題、同一模型、同一 Context，只改 Evidence-aware 的回答策略。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主要提升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45720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 一致率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429768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2866553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303520" y="1810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v1 66.7%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2240280"/>
            <a:ext cx="429768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868680" y="2240280"/>
            <a:ext cx="4009735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303520" y="2221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v2 93.3%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834640"/>
            <a:ext cx="45720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28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數字陷阱＋部分可回答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868680" y="3154680"/>
            <a:ext cx="429768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68680" y="3154680"/>
            <a:ext cx="0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303520" y="31363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v1 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3566160"/>
            <a:ext cx="429768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68680" y="3566160"/>
            <a:ext cx="343814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303520" y="3547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v2 80%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1417320"/>
            <a:ext cx="2194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四類安全案例維持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0" y="1417320"/>
            <a:ext cx="2194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Evidence ID 越界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2606040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(2/25)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過度拒答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0" y="2606040"/>
            <a:ext cx="2194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30/30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 成功輸出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5212080"/>
            <a:ext cx="10058400" cy="685800"/>
          </a:xfrm>
          <a:prstGeom prst="rect">
            <a:avLst/>
          </a:prstGeom>
          <a:solidFill>
            <a:srgbClr val="F8FAFC"/>
          </a:solidFill>
          <a:ln w="15240">
            <a:solidFill>
              <a:srgbClr val="0F172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解讀：v2 不是「更敢亂答」，而是把「已知」與「未知」分開處理。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475720" y="6464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建議方向：以 Evidence-aware  作為 C 主架構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不是因為分數最高，而是它能產生可被後續 D 驗證的答案。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為什麼推薦 v2？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466344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回答有 Evidence 的部分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明確留下沒有 Evidence 的要求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Claim 綁定 Evidence ID，供 D 驗證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32120" y="1325880"/>
            <a:ext cx="141732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 Evidence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013448" y="1627632"/>
            <a:ext cx="36576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470648" y="1325880"/>
            <a:ext cx="260604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v2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ANSWER / PARTIAL / INSUFFICIENT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Claim → Evidence ID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10149840" y="1719072"/>
            <a:ext cx="365760" cy="0"/>
          </a:xfrm>
          <a:prstGeom prst="line">
            <a:avLst/>
          </a:prstGeom>
          <a:noFill/>
          <a:ln w="2032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0607040" y="1325880"/>
            <a:ext cx="141732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1230" dirty="0"/>
          </a:p>
          <a:p>
            <a:pPr marL="0" indent="0" algn="ctr">
              <a:buNone/>
            </a:pPr>
            <a:r>
              <a:rPr lang="en-US" sz="123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逐主張驗證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11475720" y="64648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990</Words>
  <Application>Microsoft Macintosh PowerPoint</Application>
  <PresentationFormat>寬螢幕</PresentationFormat>
  <Paragraphs>182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Microsoft JhengHei</vt:lpstr>
      <vt:lpstr>Arial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C：有根據、可追蹤證據的回答產生器</dc:title>
  <dc:subject>C Generator report</dc:subject>
  <dc:creator>OpenAI</dc:creator>
  <cp:lastModifiedBy>林子榕</cp:lastModifiedBy>
  <cp:revision>5</cp:revision>
  <dcterms:created xsi:type="dcterms:W3CDTF">2026-08-20T04:20:38Z</dcterms:created>
  <dcterms:modified xsi:type="dcterms:W3CDTF">2026-08-20T05:56:02Z</dcterms:modified>
</cp:coreProperties>
</file>